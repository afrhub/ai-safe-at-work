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/ yr</c:v>
                </c:pt>
              </c:strCache>
            </c:strRef>
          </c:tx>
          <c:spPr>
            <a:solidFill>
              <a:srgbClr val="5466C7"/>
            </a:solidFill>
            <a:effectLst/>
          </c:spPr>
          <c:invertIfNegative val="0"/>
          <c:dLbls>
            <c:numFmt formatCode="&quot;£&quot;#,##0" sourceLinked="0"/>
            <c:txPr>
              <a:bodyPr/>
              <a:lstStyle/>
              <a:p>
                <a:pPr>
                  <a:defRPr b="1" i="0" strike="noStrike" sz="1250" u="none">
                    <a:solidFill>
                      <a:srgbClr val="EEF2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466C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E80E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1A2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250 seats</c:v>
                  </c:pt>
                  <c:pt idx="1">
                    <c:v>500 seats</c:v>
                  </c:pt>
                  <c:pt idx="2">
                    <c:v>1,000 seats</c:v>
                  </c:pt>
                  <c:pt idx="3">
                    <c:v>2,000 seats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6188</c:v>
                </c:pt>
                <c:pt idx="1">
                  <c:v>17325</c:v>
                </c:pt>
                <c:pt idx="2">
                  <c:v>44550</c:v>
                </c:pt>
                <c:pt idx="3">
                  <c:v>99000</c:v>
                </c:pt>
              </c:numCache>
            </c:numRef>
          </c:val>
        </c:ser>
        <c:dLbls>
          <c:numFmt formatCode="&quot;£&quot;#,##0" sourceLinked="0"/>
          <c:txPr>
            <a:bodyPr/>
            <a:lstStyle/>
            <a:p>
              <a:pPr>
                <a:defRPr b="1" i="0" strike="noStrike" sz="1250" u="none">
                  <a:solidFill>
                    <a:srgbClr val="EEF2F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6B5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31B"/>
        </a:solidFill>
        <a:ln>
          <a:noFill/>
        </a:ln>
        <a:effectLst/>
      </c:spPr>
    </c:plotArea>
    <c:plotVisOnly val="1"/>
    <c:dispBlanksAs val="span"/>
  </c:chart>
  <c:spPr>
    <a:solidFill>
      <a:srgbClr val="12131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Safe@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8686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214884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PARTNER PROGRAMME   ·   v2026.06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85800" y="2606040"/>
            <a:ext cx="108200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AI governance.
</a:t>
            </a:r>
            <a:pPr algn="l"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margin.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685800" y="470916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recurring line to managed IT, cyber and Microsoft 365 — using a course and a governance toolkit you never have to build or maintain.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00" kern="0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aisafework.netlify.app</a:t>
            </a:r>
            <a:pPr algn="l" indent="0" marL="0">
              <a:buNone/>
            </a:pPr>
            <a:r>
              <a:rPr lang="en-US" sz="1050" spc="100" kern="0" dirty="0">
                <a:solidFill>
                  <a:srgbClr val="2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1050" spc="100" kern="0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hello@aisafeatwork.org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7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Safe@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2703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57200"/>
            <a:ext cx="9722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85800" y="868680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literacy is now </a:t>
            </a:r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</a:t>
            </a:r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85800" y="17830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EU AI Act, Article 4, has been in force since February 2025. Every EU employer must make sure staff have “sufficient AI literacy”. Most small and mid-sized firms have nothing in place — and they will turn to the person who already runs their IT.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85800" y="3200400"/>
            <a:ext cx="3399434" cy="2377440"/>
          </a:xfrm>
          <a:prstGeom prst="roundRect">
            <a:avLst>
              <a:gd name="adj" fmla="val 2692"/>
            </a:avLst>
          </a:prstGeom>
          <a:solidFill>
            <a:srgbClr val="12131B"/>
          </a:solidFill>
          <a:ln w="12700">
            <a:solidFill>
              <a:srgbClr val="2A2E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97280" y="3611880"/>
            <a:ext cx="25764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2025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1097280" y="4526280"/>
            <a:ext cx="25764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spc="150" kern="0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4 ALREADY LIVE — NOT A FUTURE PROBLEM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96130" y="3200400"/>
            <a:ext cx="3399434" cy="2377440"/>
          </a:xfrm>
          <a:prstGeom prst="roundRect">
            <a:avLst>
              <a:gd name="adj" fmla="val 2692"/>
            </a:avLst>
          </a:prstGeom>
          <a:solidFill>
            <a:srgbClr val="12131B"/>
          </a:solidFill>
          <a:ln w="12700">
            <a:solidFill>
              <a:srgbClr val="2A2E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07610" y="3611880"/>
            <a:ext cx="25764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4807610" y="4526280"/>
            <a:ext cx="25764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spc="150" kern="0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MOST SMBS HAVE FOR STAFF AI TRAINING TODAY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106461" y="3200400"/>
            <a:ext cx="3399434" cy="2377440"/>
          </a:xfrm>
          <a:prstGeom prst="roundRect">
            <a:avLst>
              <a:gd name="adj" fmla="val 2692"/>
            </a:avLst>
          </a:prstGeom>
          <a:solidFill>
            <a:srgbClr val="151A33"/>
          </a:solidFill>
          <a:ln w="12700">
            <a:solidFill>
              <a:srgbClr val="3A41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517941" y="3611880"/>
            <a:ext cx="25764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8517941" y="4526280"/>
            <a:ext cx="25764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spc="150" kern="0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TRUSTED ADVISOR THEY ASK WHEN THE AUDITOR CALLS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583387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9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deadline is the demand.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00" kern="0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aisafework.netlify.app</a:t>
            </a:r>
            <a:pPr algn="l" indent="0" marL="0">
              <a:buNone/>
            </a:pPr>
            <a:r>
              <a:rPr lang="en-US" sz="1050" spc="100" kern="0" dirty="0">
                <a:solidFill>
                  <a:srgbClr val="2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1050" spc="100" kern="0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hello@aisafeatwork.org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Safe@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2703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57200"/>
            <a:ext cx="9722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85800" y="868680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own </a:t>
            </a:r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</a:t>
            </a:r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85800" y="17830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is the same job you already do — set it up, watch it, keep it current. Nobody else is covering it. Bundle it into your managed offer and lift contract value with almost no delivery overhead.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85800" y="3246120"/>
            <a:ext cx="3399434" cy="2377440"/>
          </a:xfrm>
          <a:prstGeom prst="roundRect">
            <a:avLst>
              <a:gd name="adj" fmla="val 2692"/>
            </a:avLst>
          </a:prstGeom>
          <a:solidFill>
            <a:srgbClr val="12131B"/>
          </a:solidFill>
          <a:ln w="12700">
            <a:solidFill>
              <a:srgbClr val="2A2E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942234" y="45720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19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097280" y="3657600"/>
            <a:ext cx="25764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relationship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97280" y="4206240"/>
            <a:ext cx="257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their IT, security and Microsoft 365. Safe AI is the natural next item on that list.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96130" y="3246120"/>
            <a:ext cx="3399434" cy="2377440"/>
          </a:xfrm>
          <a:prstGeom prst="roundRect">
            <a:avLst>
              <a:gd name="adj" fmla="val 2692"/>
            </a:avLst>
          </a:prstGeom>
          <a:solidFill>
            <a:srgbClr val="12131B"/>
          </a:solidFill>
          <a:ln w="12700">
            <a:solidFill>
              <a:srgbClr val="2A2E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52565" y="45720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19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4807610" y="3657600"/>
            <a:ext cx="25764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recurring line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807610" y="4206240"/>
            <a:ext cx="257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Per-seat training plus governance packs — sold yearly, renewing, not one-and-done.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106461" y="3246120"/>
            <a:ext cx="3399434" cy="2377440"/>
          </a:xfrm>
          <a:prstGeom prst="roundRect">
            <a:avLst>
              <a:gd name="adj" fmla="val 2692"/>
            </a:avLst>
          </a:prstGeom>
          <a:solidFill>
            <a:srgbClr val="12131B"/>
          </a:solidFill>
          <a:ln w="12700">
            <a:solidFill>
              <a:srgbClr val="2A2E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362895" y="45720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19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8517941" y="3657600"/>
            <a:ext cx="25764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maintain it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517941" y="4206240"/>
            <a:ext cx="257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write and update the course, templates and standards mapping. You sell and deploy.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00" kern="0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aisafework.netlify.app</a:t>
            </a:r>
            <a:pPr algn="l" indent="0" marL="0">
              <a:buNone/>
            </a:pPr>
            <a:r>
              <a:rPr lang="en-US" sz="1050" spc="100" kern="0" dirty="0">
                <a:solidFill>
                  <a:srgbClr val="2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1050" spc="100" kern="0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hello@aisafeatwork.org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Safe@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2703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57200"/>
            <a:ext cx="9722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SELLING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85800" y="868680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</a:t>
            </a:r>
            <a:pPr algn="l"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standards-cited</a:t>
            </a:r>
            <a:pPr algn="l"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platform.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85800" y="1965960"/>
            <a:ext cx="5227168" cy="3246120"/>
          </a:xfrm>
          <a:prstGeom prst="roundRect">
            <a:avLst>
              <a:gd name="adj" fmla="val 1972"/>
            </a:avLst>
          </a:prstGeom>
          <a:solidFill>
            <a:srgbClr val="12131B"/>
          </a:solidFill>
          <a:ln w="12700">
            <a:solidFill>
              <a:srgbClr val="2A2E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97280" y="2350008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·  THE PEOPLE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97280" y="2834640"/>
            <a:ext cx="44042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11-module plain-English course (~90 min, a narrated video each)
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assessment + certificate with a verifiable ID
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role tracks: Manager, DPO, MSP/IT, Copilot, Shadow AI, Procurement
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sector overlays: financial services, healthcare, public sector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78728" y="1965960"/>
            <a:ext cx="5227168" cy="3246120"/>
          </a:xfrm>
          <a:prstGeom prst="roundRect">
            <a:avLst>
              <a:gd name="adj" fmla="val 1972"/>
            </a:avLst>
          </a:prstGeom>
          <a:solidFill>
            <a:srgbClr val="12131B"/>
          </a:solidFill>
          <a:ln w="12700">
            <a:solidFill>
              <a:srgbClr val="2A2E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90208" y="2350008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 ·  THE PROOF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690208" y="2834640"/>
            <a:ext cx="44042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audit-ready templates: AUP, DPIA, FRIA, vendor questionnaire, registers, incident form, ATRS
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Clause-to-module Standards Map for the auditor
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rollout guide you hand each customer
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2.2 AA · no login · SCORM 1.2 + xAPI export-ready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" y="5486400"/>
            <a:ext cx="1263701" cy="457200"/>
          </a:xfrm>
          <a:prstGeom prst="roundRect">
            <a:avLst>
              <a:gd name="adj" fmla="val 12000"/>
            </a:avLst>
          </a:prstGeom>
          <a:solidFill>
            <a:srgbClr val="151A33"/>
          </a:solidFill>
          <a:ln w="12700">
            <a:solidFill>
              <a:srgbClr val="3A41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5486400"/>
            <a:ext cx="12637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150669" y="5486400"/>
            <a:ext cx="724205" cy="457200"/>
          </a:xfrm>
          <a:prstGeom prst="roundRect">
            <a:avLst>
              <a:gd name="adj" fmla="val 12000"/>
            </a:avLst>
          </a:prstGeom>
          <a:solidFill>
            <a:srgbClr val="151A33"/>
          </a:solidFill>
          <a:ln w="12700">
            <a:solidFill>
              <a:srgbClr val="3A417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50669" y="5486400"/>
            <a:ext cx="7242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076042" y="5486400"/>
            <a:ext cx="1695298" cy="457200"/>
          </a:xfrm>
          <a:prstGeom prst="roundRect">
            <a:avLst>
              <a:gd name="adj" fmla="val 12000"/>
            </a:avLst>
          </a:prstGeom>
          <a:solidFill>
            <a:srgbClr val="151A33"/>
          </a:solidFill>
          <a:ln w="12700">
            <a:solidFill>
              <a:srgbClr val="3A417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76042" y="5486400"/>
            <a:ext cx="1695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42001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972507" y="5486400"/>
            <a:ext cx="1695298" cy="457200"/>
          </a:xfrm>
          <a:prstGeom prst="roundRect">
            <a:avLst>
              <a:gd name="adj" fmla="val 12000"/>
            </a:avLst>
          </a:prstGeom>
          <a:solidFill>
            <a:srgbClr val="151A33"/>
          </a:solidFill>
          <a:ln w="12700">
            <a:solidFill>
              <a:srgbClr val="3A417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72507" y="5486400"/>
            <a:ext cx="1695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00" kern="0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aisafework.netlify.app</a:t>
            </a:r>
            <a:pPr algn="l" indent="0" marL="0">
              <a:buNone/>
            </a:pPr>
            <a:r>
              <a:rPr lang="en-US" sz="1050" spc="100" kern="0" dirty="0">
                <a:solidFill>
                  <a:srgbClr val="2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1050" spc="100" kern="0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hello@aisafeatwork.org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7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Safe@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2703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57200"/>
            <a:ext cx="9722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85800" y="868680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 </a:t>
            </a:r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Govern. </a:t>
            </a:r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85800" y="17373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a buyer actually asks for — and three things you can sell them.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85800" y="2468880"/>
            <a:ext cx="3399434" cy="3108960"/>
          </a:xfrm>
          <a:prstGeom prst="roundRect">
            <a:avLst>
              <a:gd name="adj" fmla="val 2059"/>
            </a:avLst>
          </a:prstGeom>
          <a:solidFill>
            <a:srgbClr val="151A33"/>
          </a:solidFill>
          <a:ln w="12700">
            <a:solidFill>
              <a:srgbClr val="3A41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97280" y="2880360"/>
            <a:ext cx="257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97280" y="3291840"/>
            <a:ext cx="25764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97280" y="3886200"/>
            <a:ext cx="25764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90-minute course your team finishes. Assessment, certificate, annual refresher.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097280" y="4800600"/>
            <a:ext cx="2576474" cy="0"/>
          </a:xfrm>
          <a:prstGeom prst="line">
            <a:avLst/>
          </a:prstGeom>
          <a:noFill/>
          <a:ln w="12700">
            <a:solidFill>
              <a:srgbClr val="2A2E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4864608"/>
            <a:ext cx="25764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£99 RRP per seat / year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96130" y="2468880"/>
            <a:ext cx="3399434" cy="3108960"/>
          </a:xfrm>
          <a:prstGeom prst="roundRect">
            <a:avLst>
              <a:gd name="adj" fmla="val 2059"/>
            </a:avLst>
          </a:prstGeom>
          <a:solidFill>
            <a:srgbClr val="12131B"/>
          </a:solidFill>
          <a:ln w="12700">
            <a:solidFill>
              <a:srgbClr val="2A2E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07610" y="2880360"/>
            <a:ext cx="257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07610" y="3291840"/>
            <a:ext cx="25764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4807610" y="3886200"/>
            <a:ext cx="25764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Plus Pack: ready-to-use AI policy, registers and risk templates.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807610" y="4800600"/>
            <a:ext cx="2576474" cy="0"/>
          </a:xfrm>
          <a:prstGeom prst="line">
            <a:avLst/>
          </a:prstGeom>
          <a:noFill/>
          <a:ln w="12700">
            <a:solidFill>
              <a:srgbClr val="2A2E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7610" y="4864608"/>
            <a:ext cx="25764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per client deployment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106461" y="2468880"/>
            <a:ext cx="3399434" cy="3108960"/>
          </a:xfrm>
          <a:prstGeom prst="roundRect">
            <a:avLst>
              <a:gd name="adj" fmla="val 2059"/>
            </a:avLst>
          </a:prstGeom>
          <a:solidFill>
            <a:srgbClr val="12131B"/>
          </a:solidFill>
          <a:ln w="12700">
            <a:solidFill>
              <a:srgbClr val="2A2E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517941" y="2880360"/>
            <a:ext cx="257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· SOON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517941" y="3291840"/>
            <a:ext cx="25764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517941" y="3886200"/>
            <a:ext cx="25764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consultancy and ISO 42001 readiness, when the client is ready.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8517941" y="4800600"/>
            <a:ext cx="2576474" cy="0"/>
          </a:xfrm>
          <a:prstGeom prst="line">
            <a:avLst/>
          </a:prstGeom>
          <a:noFill/>
          <a:ln w="12700">
            <a:solidFill>
              <a:srgbClr val="2A2E3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17941" y="4864608"/>
            <a:ext cx="25764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refer it — you earn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00" kern="0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aisafework.netlify.app</a:t>
            </a:r>
            <a:pPr algn="l" indent="0" marL="0">
              <a:buNone/>
            </a:pPr>
            <a:r>
              <a:rPr lang="en-US" sz="1050" spc="100" kern="0" dirty="0">
                <a:solidFill>
                  <a:srgbClr val="2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1050" spc="100" kern="0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hello@aisafeatwork.org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Safe@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2703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57200"/>
            <a:ext cx="9722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MARGIN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85800" y="868680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15% from day one. </a:t>
            </a:r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50% as you grow.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85800" y="1920240"/>
            <a:ext cx="7589520" cy="4160520"/>
          </a:xfrm>
          <a:prstGeom prst="roundRect">
            <a:avLst>
              <a:gd name="adj" fmla="val 1538"/>
            </a:avLst>
          </a:prstGeom>
          <a:solidFill>
            <a:srgbClr val="12131B"/>
          </a:solidFill>
          <a:ln w="12700">
            <a:solidFill>
              <a:srgbClr val="2A2E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51560" y="2194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MARGIN YOU KEEP, PER YEAR  ·  £99 RRP / SEAT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914400" y="2606040"/>
          <a:ext cx="70866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8641080" y="1920240"/>
            <a:ext cx="2864815" cy="4160520"/>
          </a:xfrm>
          <a:prstGeom prst="roundRect">
            <a:avLst>
              <a:gd name="adj" fmla="val 2234"/>
            </a:avLst>
          </a:prstGeom>
          <a:solidFill>
            <a:srgbClr val="151A33"/>
          </a:solidFill>
          <a:ln w="12700">
            <a:solidFill>
              <a:srgbClr val="3A41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9025128" y="2304288"/>
            <a:ext cx="2096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9025128" y="2670048"/>
            <a:ext cx="2096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subscription. No platform fee.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9025128" y="3538728"/>
            <a:ext cx="20967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reseller discount is pure margin. Rebates stack as your annual seat volume grows.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9025128" y="4251960"/>
            <a:ext cx="209671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seats → 25% off
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seats → 35% off
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seats → 45% off
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seats → 50% off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00" kern="0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aisafework.netlify.app</a:t>
            </a:r>
            <a:pPr algn="l" indent="0" marL="0">
              <a:buNone/>
            </a:pPr>
            <a:r>
              <a:rPr lang="en-US" sz="1050" spc="100" kern="0" dirty="0">
                <a:solidFill>
                  <a:srgbClr val="2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1050" spc="100" kern="0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hello@aisafeatwork.org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7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Safe@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2703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57200"/>
            <a:ext cx="9722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MARGIN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85800" y="868680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and referrals </a:t>
            </a:r>
            <a:pPr algn="l"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on top</a:t>
            </a:r>
            <a:pPr algn="l"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85800" y="1965960"/>
            <a:ext cx="5227168" cy="3337560"/>
          </a:xfrm>
          <a:prstGeom prst="roundRect">
            <a:avLst>
              <a:gd name="adj" fmla="val 1918"/>
            </a:avLst>
          </a:prstGeom>
          <a:solidFill>
            <a:srgbClr val="12131B"/>
          </a:solidFill>
          <a:ln w="12700">
            <a:solidFill>
              <a:srgbClr val="2A2E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69848" y="2313432"/>
            <a:ext cx="445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PACK — YOUR MARGIN PER DEPLOYMENT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9848" y="2743200"/>
          <a:ext cx="4459072" cy="914400"/>
        </p:xfrm>
        <a:graphic>
          <a:graphicData uri="http://schemas.openxmlformats.org/drawingml/2006/table">
            <a:tbl>
              <a:tblPr/>
              <a:tblGrid>
                <a:gridCol w="1961992"/>
                <a:gridCol w="1159359"/>
                <a:gridCol w="1337721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91A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91A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@ 35%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E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business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5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£1,995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£698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E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(250u)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5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£2,995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£1,048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E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Larger SME (500u)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5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£4,995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£1,748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B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069848" y="4800600"/>
            <a:ext cx="445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top of every course seat the same client buys.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278728" y="1965960"/>
            <a:ext cx="5227168" cy="3337560"/>
          </a:xfrm>
          <a:prstGeom prst="roundRect">
            <a:avLst>
              <a:gd name="adj" fmla="val 1918"/>
            </a:avLst>
          </a:prstGeom>
          <a:solidFill>
            <a:srgbClr val="151A33"/>
          </a:solidFill>
          <a:ln w="12700">
            <a:solidFill>
              <a:srgbClr val="3A41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662776" y="2313432"/>
            <a:ext cx="445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 REFERRALS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662776" y="2743200"/>
            <a:ext cx="445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9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15–20%</a:t>
            </a:r>
            <a:endParaRPr lang="en-US" sz="5200" dirty="0"/>
          </a:p>
        </p:txBody>
      </p:sp>
      <p:sp>
        <p:nvSpPr>
          <p:cNvPr id="12" name="Text 8"/>
          <p:cNvSpPr/>
          <p:nvPr/>
        </p:nvSpPr>
        <p:spPr>
          <a:xfrm>
            <a:off x="6662776" y="3749040"/>
            <a:ext cx="445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fee on the first engagement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662776" y="4251960"/>
            <a:ext cx="445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Project-priced work sits outside the seat tiers. You don't deliver it — you refer qualified clients into AI health checks, gap analysis, governance implementation and ISO 42001 / 27001 readiness, and earn on the first engagement value.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00" kern="0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aisafework.netlify.app</a:t>
            </a:r>
            <a:pPr algn="l" indent="0" marL="0">
              <a:buNone/>
            </a:pPr>
            <a:r>
              <a:rPr lang="en-US" sz="1050" spc="100" kern="0" dirty="0">
                <a:solidFill>
                  <a:srgbClr val="2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1050" spc="100" kern="0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hello@aisafeatwork.org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7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Safe@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2703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57200"/>
            <a:ext cx="9722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CARRY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85800" y="868680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effort. Low risk. </a:t>
            </a:r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to brand.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85800" y="2057400"/>
            <a:ext cx="5227168" cy="1783080"/>
          </a:xfrm>
          <a:prstGeom prst="roundRect">
            <a:avLst>
              <a:gd name="adj" fmla="val 3590"/>
            </a:avLst>
          </a:prstGeom>
          <a:solidFill>
            <a:srgbClr val="12131B"/>
          </a:solidFill>
          <a:ln w="12700">
            <a:solidFill>
              <a:srgbClr val="2A2E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69848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45920" y="2404872"/>
            <a:ext cx="385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645920" y="2926080"/>
            <a:ext cx="385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platform fee at any tier, so the reseller discount is pure margin.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78728" y="2057400"/>
            <a:ext cx="5227168" cy="1783080"/>
          </a:xfrm>
          <a:prstGeom prst="roundRect">
            <a:avLst>
              <a:gd name="adj" fmla="val 3590"/>
            </a:avLst>
          </a:prstGeom>
          <a:solidFill>
            <a:srgbClr val="12131B"/>
          </a:solidFill>
          <a:ln w="12700">
            <a:solidFill>
              <a:srgbClr val="2A2E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62776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238848" y="2404872"/>
            <a:ext cx="385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NFR licences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238848" y="2926080"/>
            <a:ext cx="385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your own team and demo the pack to prospects, at no cost. The allowance scales with your tier.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" y="4206240"/>
            <a:ext cx="5227168" cy="1783080"/>
          </a:xfrm>
          <a:prstGeom prst="roundRect">
            <a:avLst>
              <a:gd name="adj" fmla="val 3590"/>
            </a:avLst>
          </a:prstGeom>
          <a:solidFill>
            <a:srgbClr val="12131B"/>
          </a:solidFill>
          <a:ln w="12700">
            <a:solidFill>
              <a:srgbClr val="2A2E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069848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645920" y="4553712"/>
            <a:ext cx="385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registration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645920" y="5074920"/>
            <a:ext cx="385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client and it's protected for 90 days — exclusive pricing, no other partner can undercut it.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78728" y="4206240"/>
            <a:ext cx="5227168" cy="1783080"/>
          </a:xfrm>
          <a:prstGeom prst="roundRect">
            <a:avLst>
              <a:gd name="adj" fmla="val 3590"/>
            </a:avLst>
          </a:prstGeom>
          <a:solidFill>
            <a:srgbClr val="12131B"/>
          </a:solidFill>
          <a:ln w="12700">
            <a:solidFill>
              <a:srgbClr val="2A2E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662776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238848" y="4553712"/>
            <a:ext cx="385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7238848" y="5074920"/>
            <a:ext cx="385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your logo on the pitch deck and one-pagers. You lead; we keep the content current.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00" kern="0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aisafework.netlify.app</a:t>
            </a:r>
            <a:pPr algn="l" indent="0" marL="0">
              <a:buNone/>
            </a:pPr>
            <a:r>
              <a:rPr lang="en-US" sz="1050" spc="100" kern="0" dirty="0">
                <a:solidFill>
                  <a:srgbClr val="2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1050" spc="100" kern="0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hello@aisafeatwork.org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7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Safe@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82880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85800" y="2240280"/>
            <a:ext cx="108200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a </a:t>
            </a:r>
            <a:pPr algn="l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</a:t>
            </a:r>
            <a:pPr algn="l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685800" y="3703320"/>
            <a:ext cx="3399434" cy="1554480"/>
          </a:xfrm>
          <a:prstGeom prst="roundRect">
            <a:avLst>
              <a:gd name="adj" fmla="val 4118"/>
            </a:avLst>
          </a:prstGeom>
          <a:solidFill>
            <a:srgbClr val="12131B"/>
          </a:solidFill>
          <a:ln w="12700">
            <a:solidFill>
              <a:srgbClr val="2A2E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51560" y="3977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51560" y="4480560"/>
            <a:ext cx="26679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Self-certify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4800600"/>
            <a:ext cx="266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MSP / IT Admin track using your free NFR seats.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96130" y="3703320"/>
            <a:ext cx="3399434" cy="1554480"/>
          </a:xfrm>
          <a:prstGeom prst="roundRect">
            <a:avLst>
              <a:gd name="adj" fmla="val 4118"/>
            </a:avLst>
          </a:prstGeom>
          <a:solidFill>
            <a:srgbClr val="12131B"/>
          </a:solidFill>
          <a:ln w="12700">
            <a:solidFill>
              <a:srgbClr val="2A2E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61890" y="3977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761890" y="4480560"/>
            <a:ext cx="26679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deals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61890" y="4800600"/>
            <a:ext cx="266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90-day protection on your first client opportunities.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06461" y="3703320"/>
            <a:ext cx="3399434" cy="1554480"/>
          </a:xfrm>
          <a:prstGeom prst="roundRect">
            <a:avLst>
              <a:gd name="adj" fmla="val 4118"/>
            </a:avLst>
          </a:prstGeom>
          <a:solidFill>
            <a:srgbClr val="12131B"/>
          </a:solidFill>
          <a:ln w="12700">
            <a:solidFill>
              <a:srgbClr val="2A2E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472221" y="3977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472221" y="4480560"/>
            <a:ext cx="26679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472221" y="4800600"/>
            <a:ext cx="266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us with your MSP name and portfolio size to go live.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" y="562356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9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hello@aisafeatwork.org</a:t>
            </a:r>
            <a:pPr algn="l" indent="0" marL="0">
              <a:buNone/>
            </a:pPr>
            <a:r>
              <a:rPr lang="en-US" sz="1600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subject: “MSP partner enquiry”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85800" y="61722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76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logo ]</a:t>
            </a:r>
            <a:pPr algn="l" indent="0" marL="0">
              <a:buNone/>
            </a:pPr>
            <a:r>
              <a:rPr lang="en-US" sz="1200" b="1" spc="100" kern="0" dirty="0">
                <a:solidFill>
                  <a:srgbClr val="91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×   </a:t>
            </a:r>
            <a:pPr algn="l" indent="0" marL="0">
              <a:buNone/>
            </a:pPr>
            <a:r>
              <a:rPr lang="en-US" sz="1200" b="1" spc="100" kern="0" dirty="0">
                <a:solidFill>
                  <a:srgbClr val="A6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AI Safe@Work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Safe@Work — MSP Partner Programme</dc:title>
  <dc:subject>PptxGenJS Presentation</dc:subject>
  <dc:creator>AI Safe@Work</dc:creator>
  <cp:lastModifiedBy>AI Safe@Work</cp:lastModifiedBy>
  <cp:revision>1</cp:revision>
  <dcterms:created xsi:type="dcterms:W3CDTF">2026-06-23T21:07:37Z</dcterms:created>
  <dcterms:modified xsi:type="dcterms:W3CDTF">2026-06-23T21:07:37Z</dcterms:modified>
</cp:coreProperties>
</file>